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1371600" y="1371600"/>
            <a:ext cx="9445752" cy="4114800"/>
          </a:xfrm>
          <a:prstGeom prst="roundRect">
            <a:avLst/>
          </a:prstGeom>
          <a:solidFill>
            <a:srgbClr val="111827"/>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548640" tIns="548640"/>
          <a:lstStyle/>
          <a:p>
            <a:pPr algn="ctr">
              <a:defRPr sz="1200" b="1">
                <a:solidFill>
                  <a:srgbClr val="10B981"/>
                </a:solidFill>
              </a:defRPr>
            </a:pPr>
            <a:r>
              <a:t>VINUNI AI COURSE - DAY 03 LAB REPORT</a:t>
            </a:r>
          </a:p>
          <a:p>
            <a:pPr>
              <a:defRPr sz="3200" b="1">
                <a:solidFill>
                  <a:srgbClr val="F3F4F6"/>
                </a:solidFill>
              </a:defRPr>
            </a:pPr>
            <a:r>
              <a:t>Trợ Lý Thông Minh Chuỗi Cung Ứng &amp; Kho Vận</a:t>
            </a:r>
          </a:p>
          <a:p>
            <a:pPr>
              <a:defRPr sz="1800">
                <a:solidFill>
                  <a:srgbClr val="A855F7"/>
                </a:solidFill>
              </a:defRPr>
            </a:pPr>
            <a:r>
              <a:t>Kiến trúc ReAct Pattern (Reasoning + Acting) Tích hợp MCP Server Protocol</a:t>
            </a:r>
          </a:p>
          <a:p>
            <a:br/>
            <a:pPr>
              <a:defRPr sz="1400">
                <a:solidFill>
                  <a:srgbClr val="9CA3AF"/>
                </a:solidFill>
              </a:defRPr>
            </a:pPr>
            <a:r>
              <a:t>• Mô hình LLM: Gemini 1.5 / 3.1 Pro API</a:t>
            </a:r>
            <a:br/>
            <a:r>
              <a:t>• Nghiệp vụ: Kho vận đơn hàng (WMS) &amp; Học vụ Đại học VinUni</a:t>
            </a:r>
            <a:br/>
            <a:r>
              <a:t>• Kết quả: 5/5 Test Cases hoàn thành chính xác 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A855F7"/>
                </a:solidFill>
              </a:defRPr>
            </a:pPr>
            <a:r>
              <a:t>VINUNI AI COURSE - DAY 03 LAB</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3F4F6"/>
                </a:solidFill>
              </a:defRPr>
            </a:pPr>
            <a:r>
              <a:t>1. Đề Tài Lựa Chọn &amp; Lý Do Chọn Đề Tài</a:t>
            </a:r>
          </a:p>
        </p:txBody>
      </p:sp>
      <p:sp>
        <p:nvSpPr>
          <p:cNvPr id="4" name="Rounded Rectangle 3"/>
          <p:cNvSpPr/>
          <p:nvPr/>
        </p:nvSpPr>
        <p:spPr>
          <a:xfrm>
            <a:off x="731520" y="1463040"/>
            <a:ext cx="5120640" cy="4754880"/>
          </a:xfrm>
          <a:prstGeom prst="roundRect">
            <a:avLst/>
          </a:prstGeom>
          <a:solidFill>
            <a:srgbClr val="111827"/>
          </a:solidFill>
          <a:ln>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sz="2000" b="1">
                <a:solidFill>
                  <a:srgbClr val="A855F7"/>
                </a:solidFill>
              </a:defRPr>
            </a:pPr>
            <a:r>
              <a:t>🎯 Đề Tài Nghiên Cứu</a:t>
            </a:r>
          </a:p>
          <a:p>
            <a:br/>
            <a:pPr>
              <a:defRPr sz="1400">
                <a:solidFill>
                  <a:srgbClr val="F3F4F6"/>
                </a:solidFill>
              </a:defRPr>
            </a:pPr>
            <a:r>
              <a:t>Xây dựng Agent Kho Vận &amp; Chuỗi Cung Ứng kết hợp Trợ Lý Học Vụ VinUni có khả năng:</a:t>
            </a:r>
            <a:br/>
            <a:br/>
            <a:r>
              <a:t>1. Tra cứu vị trí lưu kho &amp; trạng thái vận đơn thời gian thực.</a:t>
            </a:r>
            <a:br/>
            <a:r>
              <a:t>2. Tự động cập nhật trạng thái đơn hàng trên WMS.</a:t>
            </a:r>
            <a:br/>
            <a:r>
              <a:t>3. Xử lý chính xác dữ liệu, không ảo giác (No Hallucination).</a:t>
            </a:r>
            <a:br/>
            <a:r>
              <a:t>4. Đặt lịch hẹn cố vấn học tập VinUni.</a:t>
            </a:r>
          </a:p>
        </p:txBody>
      </p:sp>
      <p:sp>
        <p:nvSpPr>
          <p:cNvPr id="5" name="Rounded Rectangle 4"/>
          <p:cNvSpPr/>
          <p:nvPr/>
        </p:nvSpPr>
        <p:spPr>
          <a:xfrm>
            <a:off x="6217920" y="1463040"/>
            <a:ext cx="5212080" cy="4754880"/>
          </a:xfrm>
          <a:prstGeom prst="roundRect">
            <a:avLst/>
          </a:prstGeom>
          <a:solidFill>
            <a:srgbClr val="111827"/>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sz="2000" b="1">
                <a:solidFill>
                  <a:srgbClr val="6366F1"/>
                </a:solidFill>
              </a:defRPr>
            </a:pPr>
            <a:r>
              <a:t>💡 Lý Do Lựa Chọn Kho Vận</a:t>
            </a:r>
          </a:p>
          <a:p>
            <a:br/>
            <a:pPr>
              <a:defRPr sz="1400">
                <a:solidFill>
                  <a:srgbClr val="F3F4F6"/>
                </a:solidFill>
              </a:defRPr>
            </a:pPr>
            <a:r>
              <a:t>• Dữ liệu biến động thời gian thực:</a:t>
            </a:r>
            <a:br/>
            <a:r>
              <a:t>Vị trí lưu kho và trạng thái vận chuyển liên tục thay đổi.</a:t>
            </a:r>
            <a:br/>
            <a:br/>
            <a:r>
              <a:t>• Yêu cầu tương tác 2 chiều (Read/Write):</a:t>
            </a:r>
            <a:br/>
            <a:r>
              <a:t>Không chỉ đọc thông tin mà phải tự thực thi lệnh Cập nhật DB qua API.</a:t>
            </a:r>
            <a:br/>
            <a:br/>
            <a:r>
              <a:t>• Phân tách kiến trúc chuẩn MCP:</a:t>
            </a:r>
            <a:br/>
            <a:r>
              <a:t>Bộ não suy luận (Agent) kết nối an toàn với MCP Server phơi duyệt các Tools nghiệp vụ.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A855F7"/>
                </a:solidFill>
              </a:defRPr>
            </a:pPr>
            <a:r>
              <a:t>VINUNI AI COURSE - DAY 03 LAB</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3F4F6"/>
                </a:solidFill>
              </a:defRPr>
            </a:pPr>
            <a:r>
              <a:t>2. 4 Tiêu Chí Phù Hợp Của ReAct Agent (Agent Fit Matrix)</a:t>
            </a:r>
          </a:p>
        </p:txBody>
      </p:sp>
      <p:sp>
        <p:nvSpPr>
          <p:cNvPr id="4" name="Rounded Rectangle 3"/>
          <p:cNvSpPr/>
          <p:nvPr/>
        </p:nvSpPr>
        <p:spPr>
          <a:xfrm>
            <a:off x="731520" y="1463040"/>
            <a:ext cx="5212080" cy="2286000"/>
          </a:xfrm>
          <a:prstGeom prst="roundRect">
            <a:avLst/>
          </a:prstGeom>
          <a:solidFill>
            <a:srgbClr val="111827"/>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600" b="1">
                <a:solidFill>
                  <a:srgbClr val="6366F1"/>
                </a:solidFill>
              </a:defRPr>
            </a:pPr>
            <a:r>
              <a:t>1. Dynamic Decision - Luồng Quyết Định Động</a:t>
            </a:r>
          </a:p>
          <a:p>
            <a:br/>
            <a:pPr>
              <a:defRPr sz="1300">
                <a:solidFill>
                  <a:srgbClr val="F3F4F6"/>
                </a:solidFill>
              </a:defRPr>
            </a:pPr>
            <a:r>
              <a:t>Tự phân tích Intent để chọn Tool hoặc trả lời trực tiếp mà không cần gò bó `if-else` cố định.</a:t>
            </a:r>
          </a:p>
        </p:txBody>
      </p:sp>
      <p:sp>
        <p:nvSpPr>
          <p:cNvPr id="5" name="Rounded Rectangle 4"/>
          <p:cNvSpPr/>
          <p:nvPr/>
        </p:nvSpPr>
        <p:spPr>
          <a:xfrm>
            <a:off x="6217920" y="1463040"/>
            <a:ext cx="5212080" cy="2286000"/>
          </a:xfrm>
          <a:prstGeom prst="roundRect">
            <a:avLst/>
          </a:prstGeom>
          <a:solidFill>
            <a:srgbClr val="1118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600" b="1">
                <a:solidFill>
                  <a:srgbClr val="A855F7"/>
                </a:solidFill>
              </a:defRPr>
            </a:pPr>
            <a:r>
              <a:t>2. Multi-Step Reasoning - Suy Luận Nhiều Bước</a:t>
            </a:r>
          </a:p>
          <a:p>
            <a:br/>
            <a:pPr>
              <a:defRPr sz="1300">
                <a:solidFill>
                  <a:srgbClr val="F3F4F6"/>
                </a:solidFill>
              </a:defRPr>
            </a:pPr>
            <a:r>
              <a:t>Thực hiện chuỗi Thought-Action nhiều vòng: Tra cứu vị trí ➔ Kiểm tra điều kiện ➔ Cập nhật trạng thái (TC04).</a:t>
            </a:r>
          </a:p>
        </p:txBody>
      </p:sp>
      <p:sp>
        <p:nvSpPr>
          <p:cNvPr id="6" name="Rounded Rectangle 5"/>
          <p:cNvSpPr/>
          <p:nvPr/>
        </p:nvSpPr>
        <p:spPr>
          <a:xfrm>
            <a:off x="731520" y="4023360"/>
            <a:ext cx="5212080" cy="2286000"/>
          </a:xfrm>
          <a:prstGeom prst="roundRect">
            <a:avLst/>
          </a:prstGeom>
          <a:solidFill>
            <a:srgbClr val="1118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600" b="1">
                <a:solidFill>
                  <a:srgbClr val="10B981"/>
                </a:solidFill>
              </a:defRPr>
            </a:pPr>
            <a:r>
              <a:t>3. MCP Tool Integration - Tích Hợp Công Cụ MCP</a:t>
            </a:r>
          </a:p>
          <a:p>
            <a:br/>
            <a:pPr>
              <a:defRPr sz="1300">
                <a:solidFill>
                  <a:srgbClr val="F3F4F6"/>
                </a:solidFill>
              </a:defRPr>
            </a:pPr>
            <a:r>
              <a:t>Gửi request chuẩn JSON-RPC qua MCP Server để truy xuất WMS DB, đảm bảo dữ liệu đúng 100%.</a:t>
            </a:r>
          </a:p>
        </p:txBody>
      </p:sp>
      <p:sp>
        <p:nvSpPr>
          <p:cNvPr id="7" name="Rounded Rectangle 6"/>
          <p:cNvSpPr/>
          <p:nvPr/>
        </p:nvSpPr>
        <p:spPr>
          <a:xfrm>
            <a:off x="6217920" y="4023360"/>
            <a:ext cx="5212080" cy="228600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600" b="1">
                <a:solidFill>
                  <a:srgbClr val="F59E0B"/>
                </a:solidFill>
              </a:defRPr>
            </a:pPr>
            <a:r>
              <a:t>4. Feedback Loop - Vòng Lặp Phản Hồi Xử Lý Lỗi</a:t>
            </a:r>
          </a:p>
          <a:p>
            <a:br/>
            <a:pPr>
              <a:defRPr sz="1300">
                <a:solidFill>
                  <a:srgbClr val="F3F4F6"/>
                </a:solidFill>
              </a:defRPr>
            </a:pPr>
            <a:r>
              <a:t>Đọc kết quả Observation khi không tìm thấy đơn (TC05 `NOT_FOUND`) để tự điều chỉnh phản hồi trung thực.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A855F7"/>
                </a:solidFill>
              </a:defRPr>
            </a:pPr>
            <a:r>
              <a:t>VINUNI AI COURSE - DAY 03 LAB</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3F4F6"/>
                </a:solidFill>
              </a:defRPr>
            </a:pPr>
            <a:r>
              <a:t>3. Sơ Đồ Kiến Trúc Phân Tầng Hệ Thống (Architecture)</a:t>
            </a:r>
          </a:p>
        </p:txBody>
      </p:sp>
      <p:sp>
        <p:nvSpPr>
          <p:cNvPr id="4" name="Rounded Rectangle 3"/>
          <p:cNvSpPr/>
          <p:nvPr/>
        </p:nvSpPr>
        <p:spPr>
          <a:xfrm>
            <a:off x="731520" y="1828800"/>
            <a:ext cx="2468880" cy="4114800"/>
          </a:xfrm>
          <a:prstGeom prst="roundRect">
            <a:avLst/>
          </a:prstGeom>
          <a:solidFill>
            <a:srgbClr val="111827"/>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600" b="1">
                <a:solidFill>
                  <a:srgbClr val="6366F1"/>
                </a:solidFill>
              </a:defRPr>
            </a:pPr>
            <a:r>
              <a:t>👤 CLIENT / UI LAYER</a:t>
            </a:r>
          </a:p>
          <a:p>
            <a:br/>
            <a:br/>
            <a:pPr>
              <a:defRPr sz="1300">
                <a:solidFill>
                  <a:srgbClr val="F3F4F6"/>
                </a:solidFill>
              </a:defRPr>
            </a:pPr>
            <a:r>
              <a:t>Web UI Dashboard (demo/index.html) &amp; Terminal Console</a:t>
            </a:r>
          </a:p>
        </p:txBody>
      </p:sp>
      <p:sp>
        <p:nvSpPr>
          <p:cNvPr id="5" name="Rounded Rectangle 4"/>
          <p:cNvSpPr/>
          <p:nvPr/>
        </p:nvSpPr>
        <p:spPr>
          <a:xfrm>
            <a:off x="3474720" y="1828800"/>
            <a:ext cx="2468880" cy="4114800"/>
          </a:xfrm>
          <a:prstGeom prst="roundRect">
            <a:avLst/>
          </a:prstGeom>
          <a:solidFill>
            <a:srgbClr val="111827"/>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600" b="1">
                <a:solidFill>
                  <a:srgbClr val="A855F7"/>
                </a:solidFill>
              </a:defRPr>
            </a:pPr>
            <a:r>
              <a:t>🧠 REACT AGENT CORE</a:t>
            </a:r>
          </a:p>
          <a:p>
            <a:br/>
            <a:br/>
            <a:pPr>
              <a:defRPr sz="1300">
                <a:solidFill>
                  <a:srgbClr val="F3F4F6"/>
                </a:solidFill>
              </a:defRPr>
            </a:pPr>
            <a:r>
              <a:t>Vòng lặp ReAct App (src/app.py) &amp; Gemini 1.5/3.1 LLM Provider</a:t>
            </a:r>
          </a:p>
        </p:txBody>
      </p:sp>
      <p:sp>
        <p:nvSpPr>
          <p:cNvPr id="6" name="Rounded Rectangle 5"/>
          <p:cNvSpPr/>
          <p:nvPr/>
        </p:nvSpPr>
        <p:spPr>
          <a:xfrm>
            <a:off x="6217920" y="1828800"/>
            <a:ext cx="2468880" cy="4114800"/>
          </a:xfrm>
          <a:prstGeom prst="roundRect">
            <a:avLst/>
          </a:prstGeom>
          <a:solidFill>
            <a:srgbClr val="111827"/>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600" b="1">
                <a:solidFill>
                  <a:srgbClr val="10B981"/>
                </a:solidFill>
              </a:defRPr>
            </a:pPr>
            <a:r>
              <a:t>🌐 MCP SERVER LAYER</a:t>
            </a:r>
          </a:p>
          <a:p>
            <a:br/>
            <a:br/>
            <a:pPr>
              <a:defRPr sz="1300">
                <a:solidFill>
                  <a:srgbClr val="F3F4F6"/>
                </a:solidFill>
              </a:defRPr>
            </a:pPr>
            <a:r>
              <a:t>Model Context Protocol Server (src/mcp_server.py) - JSON-RPC</a:t>
            </a:r>
          </a:p>
        </p:txBody>
      </p:sp>
      <p:sp>
        <p:nvSpPr>
          <p:cNvPr id="7" name="Rounded Rectangle 6"/>
          <p:cNvSpPr/>
          <p:nvPr/>
        </p:nvSpPr>
        <p:spPr>
          <a:xfrm>
            <a:off x="8961120" y="1828800"/>
            <a:ext cx="2468880" cy="4114800"/>
          </a:xfrm>
          <a:prstGeom prst="roundRect">
            <a:avLst/>
          </a:prstGeom>
          <a:solidFill>
            <a:srgbClr val="11182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tIns="365760"/>
          <a:lstStyle/>
          <a:p>
            <a:pPr algn="ctr">
              <a:defRPr sz="1600" b="1">
                <a:solidFill>
                  <a:srgbClr val="F59E0B"/>
                </a:solidFill>
              </a:defRPr>
            </a:pPr>
            <a:r>
              <a:t>🛠️ TOOLS &amp; DATABASE</a:t>
            </a:r>
          </a:p>
          <a:p>
            <a:br/>
            <a:br/>
            <a:pPr>
              <a:defRPr sz="1300">
                <a:solidFill>
                  <a:srgbClr val="F3F4F6"/>
                </a:solidFill>
              </a:defRPr>
            </a:pPr>
            <a:r>
              <a:t>order_tracking, order_status_update, academic_query (src/tools.py)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A855F7"/>
                </a:solidFill>
              </a:defRPr>
            </a:pPr>
            <a:r>
              <a:t>VINUNI AI COURSE - DAY 03 LAB</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3F4F6"/>
                </a:solidFill>
              </a:defRPr>
            </a:pPr>
            <a:r>
              <a:t>4. Quy Trình Vòng Lặp ReAct Loop (Step-by-Step Flow)</a:t>
            </a:r>
          </a:p>
        </p:txBody>
      </p:sp>
      <p:sp>
        <p:nvSpPr>
          <p:cNvPr id="4" name="Rounded Rectangle 3"/>
          <p:cNvSpPr/>
          <p:nvPr/>
        </p:nvSpPr>
        <p:spPr>
          <a:xfrm>
            <a:off x="731520" y="1645920"/>
            <a:ext cx="2468880" cy="2011680"/>
          </a:xfrm>
          <a:prstGeom prst="roundRect">
            <a:avLst/>
          </a:prstGeom>
          <a:solidFill>
            <a:srgbClr val="111827"/>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82880" tIns="274320"/>
          <a:lstStyle/>
          <a:p>
            <a:pPr algn="ctr">
              <a:defRPr sz="1500" b="1">
                <a:solidFill>
                  <a:srgbClr val="6366F1"/>
                </a:solidFill>
              </a:defRPr>
            </a:pPr>
            <a:r>
              <a:t>Step 1: Input</a:t>
            </a:r>
          </a:p>
          <a:p>
            <a:pPr>
              <a:defRPr sz="1200">
                <a:solidFill>
                  <a:srgbClr val="F3F4F6"/>
                </a:solidFill>
              </a:defRPr>
            </a:pPr>
            <a:r>
              <a:t>Người dùng gửi câu hỏi kho vận</a:t>
            </a:r>
          </a:p>
        </p:txBody>
      </p:sp>
      <p:sp>
        <p:nvSpPr>
          <p:cNvPr id="5" name="Rounded Rectangle 4"/>
          <p:cNvSpPr/>
          <p:nvPr/>
        </p:nvSpPr>
        <p:spPr>
          <a:xfrm>
            <a:off x="3474720" y="1645920"/>
            <a:ext cx="2468880" cy="2011680"/>
          </a:xfrm>
          <a:prstGeom prst="roundRect">
            <a:avLst/>
          </a:prstGeom>
          <a:solidFill>
            <a:srgbClr val="111827"/>
          </a:solidFill>
          <a:ln>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tIns="274320"/>
          <a:lstStyle/>
          <a:p>
            <a:pPr algn="ctr">
              <a:defRPr sz="1500" b="1">
                <a:solidFill>
                  <a:srgbClr val="A855F7"/>
                </a:solidFill>
              </a:defRPr>
            </a:pPr>
            <a:r>
              <a:t>Step 2: Thought</a:t>
            </a:r>
          </a:p>
          <a:p>
            <a:pPr>
              <a:defRPr sz="1200">
                <a:solidFill>
                  <a:srgbClr val="F3F4F6"/>
                </a:solidFill>
              </a:defRPr>
            </a:pPr>
            <a:r>
              <a:t>LLM phân tích Intent &amp; chọn Tool</a:t>
            </a:r>
          </a:p>
        </p:txBody>
      </p:sp>
      <p:sp>
        <p:nvSpPr>
          <p:cNvPr id="6" name="Rounded Rectangle 5"/>
          <p:cNvSpPr/>
          <p:nvPr/>
        </p:nvSpPr>
        <p:spPr>
          <a:xfrm>
            <a:off x="6217920" y="1645920"/>
            <a:ext cx="2468880" cy="2011680"/>
          </a:xfrm>
          <a:prstGeom prst="roundRect">
            <a:avLst/>
          </a:prstGeom>
          <a:solidFill>
            <a:srgbClr val="111827"/>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tIns="274320"/>
          <a:lstStyle/>
          <a:p>
            <a:pPr algn="ctr">
              <a:defRPr sz="1500" b="1">
                <a:solidFill>
                  <a:srgbClr val="F59E0B"/>
                </a:solidFill>
              </a:defRPr>
            </a:pPr>
            <a:r>
              <a:t>Step 3: Action</a:t>
            </a:r>
          </a:p>
          <a:p>
            <a:pPr>
              <a:defRPr sz="1200">
                <a:solidFill>
                  <a:srgbClr val="F3F4F6"/>
                </a:solidFill>
              </a:defRPr>
            </a:pPr>
            <a:r>
              <a:t>Gọi MCP Server thực thi Tool</a:t>
            </a:r>
          </a:p>
        </p:txBody>
      </p:sp>
      <p:sp>
        <p:nvSpPr>
          <p:cNvPr id="7" name="Rounded Rectangle 6"/>
          <p:cNvSpPr/>
          <p:nvPr/>
        </p:nvSpPr>
        <p:spPr>
          <a:xfrm>
            <a:off x="8961120" y="1645920"/>
            <a:ext cx="2468880" cy="2011680"/>
          </a:xfrm>
          <a:prstGeom prst="roundRect">
            <a:avLst/>
          </a:prstGeom>
          <a:solidFill>
            <a:srgbClr val="111827"/>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tIns="274320"/>
          <a:lstStyle/>
          <a:p>
            <a:pPr algn="ctr">
              <a:defRPr sz="1500" b="1">
                <a:solidFill>
                  <a:srgbClr val="10B981"/>
                </a:solidFill>
              </a:defRPr>
            </a:pPr>
            <a:r>
              <a:t>Step 4: Observation</a:t>
            </a:r>
          </a:p>
          <a:p>
            <a:pPr>
              <a:defRPr sz="1200">
                <a:solidFill>
                  <a:srgbClr val="F3F4F6"/>
                </a:solidFill>
              </a:defRPr>
            </a:pPr>
            <a:r>
              <a:t>Nhận JSON kết quả từ WMS DB</a:t>
            </a:r>
          </a:p>
        </p:txBody>
      </p:sp>
      <p:sp>
        <p:nvSpPr>
          <p:cNvPr id="8" name="Rounded Rectangle 7"/>
          <p:cNvSpPr/>
          <p:nvPr/>
        </p:nvSpPr>
        <p:spPr>
          <a:xfrm>
            <a:off x="731520" y="4114800"/>
            <a:ext cx="10698480" cy="2011680"/>
          </a:xfrm>
          <a:prstGeom prst="roundRect">
            <a:avLst/>
          </a:prstGeom>
          <a:solidFill>
            <a:srgbClr val="111827"/>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1800" b="1">
                <a:solidFill>
                  <a:srgbClr val="10B981"/>
                </a:solidFill>
              </a:defRPr>
            </a:pPr>
            <a:r>
              <a:t>🏁 Step 5: Final Answer (Kết luận cuối cùng)</a:t>
            </a:r>
          </a:p>
          <a:p>
            <a:pPr>
              <a:defRPr sz="1400">
                <a:solidFill>
                  <a:srgbClr val="F3F4F6"/>
                </a:solidFill>
              </a:defRPr>
            </a:pPr>
            <a:r>
              <a:t>LLM tổng hợp toàn bộ tri thức từ Observation nhận được để đưa ra câu trả lời tự nhiên, đầy đủ cho người dùng và kết thúc vòng lặp ReAct Loop.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A855F7"/>
                </a:solidFill>
              </a:defRPr>
            </a:pPr>
            <a:r>
              <a:t>VINUNI AI COURSE - DAY 03 LAB</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3F4F6"/>
                </a:solidFill>
              </a:defRPr>
            </a:pPr>
            <a:r>
              <a:t>5. Danh Sách Các MCP Tools Nghiệp Vụ</a:t>
            </a:r>
          </a:p>
        </p:txBody>
      </p:sp>
      <p:sp>
        <p:nvSpPr>
          <p:cNvPr id="4" name="Rounded Rectangle 3"/>
          <p:cNvSpPr/>
          <p:nvPr/>
        </p:nvSpPr>
        <p:spPr>
          <a:xfrm>
            <a:off x="731520" y="1463040"/>
            <a:ext cx="5212080" cy="2286000"/>
          </a:xfrm>
          <a:prstGeom prst="roundRect">
            <a:avLst/>
          </a:prstGeom>
          <a:solidFill>
            <a:srgbClr val="111827"/>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600" b="1">
                <a:solidFill>
                  <a:srgbClr val="6366F1"/>
                </a:solidFill>
              </a:defRPr>
            </a:pPr>
            <a:r>
              <a:t>`order_tracking` (Input: order_id)</a:t>
            </a:r>
          </a:p>
          <a:p>
            <a:br/>
            <a:pPr>
              <a:defRPr sz="1300">
                <a:solidFill>
                  <a:srgbClr val="F3F4F6"/>
                </a:solidFill>
              </a:defRPr>
            </a:pPr>
            <a:r>
              <a:t>Tra cứu vị trí lưu kho hiện tại, trạng thái vận đơn, thông tin người nhận và lịch sử di chuyển đơn hàng.</a:t>
            </a:r>
          </a:p>
        </p:txBody>
      </p:sp>
      <p:sp>
        <p:nvSpPr>
          <p:cNvPr id="5" name="Rounded Rectangle 4"/>
          <p:cNvSpPr/>
          <p:nvPr/>
        </p:nvSpPr>
        <p:spPr>
          <a:xfrm>
            <a:off x="6217920" y="1463040"/>
            <a:ext cx="5212080" cy="2286000"/>
          </a:xfrm>
          <a:prstGeom prst="roundRect">
            <a:avLst/>
          </a:prstGeom>
          <a:solidFill>
            <a:srgbClr val="111827"/>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600" b="1">
                <a:solidFill>
                  <a:srgbClr val="10B981"/>
                </a:solidFill>
              </a:defRPr>
            </a:pPr>
            <a:r>
              <a:t>`order_status_update` (Input: order_id, new_status)</a:t>
            </a:r>
          </a:p>
          <a:p>
            <a:br/>
            <a:pPr>
              <a:defRPr sz="1300">
                <a:solidFill>
                  <a:srgbClr val="F3F4F6"/>
                </a:solidFill>
              </a:defRPr>
            </a:pPr>
            <a:r>
              <a:t>Cập nhật trạng thái đơn hàng mới vào cơ sở dữ liệu WMS và thông báo thay đổi.</a:t>
            </a:r>
          </a:p>
        </p:txBody>
      </p:sp>
      <p:sp>
        <p:nvSpPr>
          <p:cNvPr id="6" name="Rounded Rectangle 5"/>
          <p:cNvSpPr/>
          <p:nvPr/>
        </p:nvSpPr>
        <p:spPr>
          <a:xfrm>
            <a:off x="731520" y="4023360"/>
            <a:ext cx="5212080" cy="2286000"/>
          </a:xfrm>
          <a:prstGeom prst="roundRect">
            <a:avLst/>
          </a:prstGeom>
          <a:solidFill>
            <a:srgbClr val="111827"/>
          </a:solidFill>
          <a:ln>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600" b="1">
                <a:solidFill>
                  <a:srgbClr val="A855F7"/>
                </a:solidFill>
              </a:defRPr>
            </a:pPr>
            <a:r>
              <a:t>`academic_query` (Input: student_id)</a:t>
            </a:r>
          </a:p>
          <a:p>
            <a:br/>
            <a:pPr>
              <a:defRPr sz="1300">
                <a:solidFill>
                  <a:srgbClr val="F3F4F6"/>
                </a:solidFill>
              </a:defRPr>
            </a:pPr>
            <a:r>
              <a:t>Tra cứu điểm tích lũy GPA, lớp học, email và Cố vấn học tập của sinh viên Đại học VinUni.</a:t>
            </a:r>
          </a:p>
        </p:txBody>
      </p:sp>
      <p:sp>
        <p:nvSpPr>
          <p:cNvPr id="7" name="Rounded Rectangle 6"/>
          <p:cNvSpPr/>
          <p:nvPr/>
        </p:nvSpPr>
        <p:spPr>
          <a:xfrm>
            <a:off x="6217920" y="4023360"/>
            <a:ext cx="5212080" cy="2286000"/>
          </a:xfrm>
          <a:prstGeom prst="roundRect">
            <a:avLst/>
          </a:prstGeom>
          <a:solidFill>
            <a:srgbClr val="111827"/>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600" b="1">
                <a:solidFill>
                  <a:srgbClr val="F59E0B"/>
                </a:solidFill>
              </a:defRPr>
            </a:pPr>
            <a:r>
              <a:t>`academic_advisor_booking` (Input: student_id, date, time)</a:t>
            </a:r>
          </a:p>
          <a:p>
            <a:br/>
            <a:pPr>
              <a:defRPr sz="1300">
                <a:solidFill>
                  <a:srgbClr val="F3F4F6"/>
                </a:solidFill>
              </a:defRPr>
            </a:pPr>
            <a:r>
              <a:t>Đặt lịch hẹn gặp Cố vấn học tập trực tiếp cho sinh viên theo khung giờ mong muốn.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A855F7"/>
                </a:solidFill>
              </a:defRPr>
            </a:pPr>
            <a:r>
              <a:t>VINUNI AI COURSE - DAY 03 LAB</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3F4F6"/>
                </a:solidFill>
              </a:defRPr>
            </a:pPr>
            <a:r>
              <a:t>6. Kết Quả Thử Nghiệm &amp; Trace Log Analysis</a:t>
            </a:r>
          </a:p>
        </p:txBody>
      </p:sp>
      <p:sp>
        <p:nvSpPr>
          <p:cNvPr id="4" name="Rounded Rectangle 3"/>
          <p:cNvSpPr/>
          <p:nvPr/>
        </p:nvSpPr>
        <p:spPr>
          <a:xfrm>
            <a:off x="731520" y="1463040"/>
            <a:ext cx="10698480" cy="4754880"/>
          </a:xfrm>
          <a:prstGeom prst="roundRect">
            <a:avLst/>
          </a:prstGeom>
          <a:solidFill>
            <a:srgbClr val="111827"/>
          </a:solidFill>
          <a:ln>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sz="1800" b="1">
                <a:solidFill>
                  <a:srgbClr val="10B981"/>
                </a:solidFill>
              </a:defRPr>
            </a:pPr>
            <a:r>
              <a:t>📊 Tổng Kết Thực Thi 5/5 Test Cases Thành Công:</a:t>
            </a:r>
          </a:p>
          <a:p>
            <a:br/>
            <a:pPr>
              <a:defRPr sz="1400">
                <a:solidFill>
                  <a:srgbClr val="F3F4F6"/>
                </a:solidFill>
              </a:defRPr>
            </a:pPr>
            <a:r>
              <a:t>• [TC01] Hỏi quy chế chung VinUni ➔ Agent trả lời ngay (0 tool call, ~3.6s)</a:t>
            </a:r>
            <a:br/>
            <a:r>
              <a:t>• [TC02] Tra cứu sinh viên SV2026001 ➔ Gọi `academic_query` thành công (~2.0s)</a:t>
            </a:r>
            <a:br/>
            <a:r>
              <a:t>• [TC03] Cập nhật đơn DH2026001 ➔ Gọi `order_status_update` cập nhật WMS (~2.9s)</a:t>
            </a:r>
            <a:br/>
            <a:r>
              <a:t>• [TC04] Suy luận 2 bước đơn DH2026002 ➔ Gọi `order_tracking` suy luận điều kiện (~2.4s)</a:t>
            </a:r>
            <a:br/>
            <a:r>
              <a:t>• [TC05] Tra mã không tồn tại DH9999999 ➔ Nhận `NOT_FOUND` và xử lý lịch sự (~1.9s)</a:t>
            </a:r>
            <a:br/>
            <a:br/>
            <a:r>
              <a:t>👉 Toàn bộ 9 sự kiện Waterfall Trace Log đã được ghi nhận tại file docs/trace_waterfall.json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100" b="1">
                <a:solidFill>
                  <a:srgbClr val="A855F7"/>
                </a:solidFill>
              </a:defRPr>
            </a:pPr>
            <a:r>
              <a:t>VINUNI AI COURSE - DAY 03 LAB</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F3F4F6"/>
                </a:solidFill>
              </a:defRPr>
            </a:pPr>
            <a:r>
              <a:t>7. Khởi Chạy Web UI Interactive Demo</a:t>
            </a:r>
          </a:p>
        </p:txBody>
      </p:sp>
      <p:sp>
        <p:nvSpPr>
          <p:cNvPr id="4" name="Rounded Rectangle 3"/>
          <p:cNvSpPr/>
          <p:nvPr/>
        </p:nvSpPr>
        <p:spPr>
          <a:xfrm>
            <a:off x="1371600" y="1645920"/>
            <a:ext cx="9445752" cy="4389120"/>
          </a:xfrm>
          <a:prstGeom prst="roundRect">
            <a:avLst/>
          </a:prstGeom>
          <a:solidFill>
            <a:srgbClr val="111827"/>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548640" tIns="548640"/>
          <a:lstStyle/>
          <a:p>
            <a:pPr algn="ctr">
              <a:defRPr sz="2200" b="1">
                <a:solidFill>
                  <a:srgbClr val="10B981"/>
                </a:solidFill>
              </a:defRPr>
            </a:pPr>
            <a:r>
              <a:t>🖥️ HƯỚNG DẪN KHỞI CHẠY WEB DEMO DASHBOARD</a:t>
            </a:r>
          </a:p>
          <a:p>
            <a:br/>
            <a:pPr>
              <a:defRPr sz="1500">
                <a:solidFill>
                  <a:srgbClr val="F3F4F6"/>
                </a:solidFill>
              </a:defRPr>
            </a:pPr>
            <a:r>
              <a:t>1. Mở Terminal tại thư mục dự án và chạy lệnh:</a:t>
            </a:r>
          </a:p>
          <a:p>
            <a:pPr>
              <a:defRPr sz="1800" b="1">
                <a:solidFill>
                  <a:srgbClr val="F59E0B"/>
                </a:solidFill>
              </a:defRPr>
            </a:pPr>
            <a:r>
              <a:t>   python demo/server.py</a:t>
            </a:r>
          </a:p>
          <a:p>
            <a:br/>
            <a:pPr>
              <a:defRPr sz="1500">
                <a:solidFill>
                  <a:srgbClr val="F3F4F6"/>
                </a:solidFill>
              </a:defRPr>
            </a:pPr>
            <a:r>
              <a:t>2. Mở trình duyệt truy cập: http://localhost:8000</a:t>
            </a:r>
          </a:p>
          <a:p>
            <a:br/>
            <a:pPr>
              <a:defRPr sz="1300">
                <a:solidFill>
                  <a:srgbClr val="9CA3AF"/>
                </a:solidFill>
              </a:defRPr>
            </a:pPr>
            <a:r>
              <a:t>✨ Tính năng Web UI:</a:t>
            </a:r>
            <a:br/>
            <a:r>
              <a:t>  • Tương tác gửi câu hỏi trực tiếp &amp; xem ReAct Trace thời gian thực.</a:t>
            </a:r>
            <a:br/>
            <a:r>
              <a:t>  • Biểu đồ luồng Mermaid tương tác trực quan.</a:t>
            </a:r>
            <a:br/>
            <a:r>
              <a:t>  • Bảng tổng hợp Waterfall Trace Timeline &amp; Latency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